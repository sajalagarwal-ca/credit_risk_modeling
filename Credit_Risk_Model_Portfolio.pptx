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900" b="0" i="0" u="none" strike="noStrike">
                <a:solidFill>
                  <a:srgbClr val="0D1B2A"/>
                </a:solidFill>
                <a:latin typeface="Arial"/>
              </a:rPr>
              <a:t>Top Features by SHAP Value (PD Model)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471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EB6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EB6B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loan_to_income</c:v>
                  </c:pt>
                  <c:pt idx="1">
                    <c:v>bureau_score</c:v>
                  </c:pt>
                  <c:pt idx="2">
                    <c:v>credit_util.</c:v>
                  </c:pt>
                  <c:pt idx="3">
                    <c:v>delinquency</c:v>
                  </c:pt>
                  <c:pt idx="4">
                    <c:v>LTV ratio</c:v>
                  </c:pt>
                  <c:pt idx="5">
                    <c:v>emp_tenure</c:v>
                  </c:pt>
                  <c:pt idx="6">
                    <c:v>income/dep.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</c:v>
                </c:pt>
                <c:pt idx="1">
                  <c:v>0.16</c:v>
                </c:pt>
                <c:pt idx="2">
                  <c:v>0.14</c:v>
                </c:pt>
                <c:pt idx="3">
                  <c:v>0.12</c:v>
                </c:pt>
                <c:pt idx="4">
                  <c:v>0.1</c:v>
                </c:pt>
                <c:pt idx="5">
                  <c:v>0.08</c:v>
                </c:pt>
                <c:pt idx="6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6217920" cy="50703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FINTECH  |  RISK ANALYTICS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for Probability of Default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Loss Given Default Estimation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2004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Finance Company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Sajal Agarwal  |  Toronto, CA  |  2024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914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237744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234440"/>
            <a:ext cx="45720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289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1968" y="1563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92240" y="1984248"/>
            <a:ext cx="237744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984248"/>
            <a:ext cx="45720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039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1968" y="23134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+ LGD Model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92240" y="2734056"/>
            <a:ext cx="237744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734056"/>
            <a:ext cx="45720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01968" y="3063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Tuning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92240" y="3483864"/>
            <a:ext cx="237744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483864"/>
            <a:ext cx="45720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538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01968" y="3813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this 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292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10058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12344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credit risk modeling matters for small finance companies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63677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1636776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059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16824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1911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class imbalance, key feature distributions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231343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313432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4825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" y="23591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25877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PD + LGD pipeline design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299008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990088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592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" y="30358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" y="3264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stack, libraries, and tooling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96012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960120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1292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02352" y="10058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12344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KS statistic, Gini, SHAP insights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163677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1636776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8059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02352" y="16824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&amp; Business Impact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1911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Credit Loss output and loan decisioning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231343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2313432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4825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02352" y="23591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02352" y="25877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and deployment architecture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299008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2990088"/>
            <a:ext cx="47548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1592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02352" y="30358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02352" y="3264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and production readiness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 risk challenge for small finance institutions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14400"/>
            <a:ext cx="384048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51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0352" y="1389888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353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often lack formal credit bureau history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default rates among thin-file 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2377440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scorecards miss behavioral signals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" y="2871216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 for IFRS 9 ECL provisioning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" y="3364992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328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is slow and subjective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960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234440"/>
            <a:ext cx="54864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0016" y="15361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both default probability (PD) and loss severity (LGD) using XGBoost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2002536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002536"/>
            <a:ext cx="54864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066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0016" y="23042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ratios: loan-to-income, credit utilization, delinquency history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277063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770632"/>
            <a:ext cx="54864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2834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30723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TPE search over 7 dimensions with pruning for efficiency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3538728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538728"/>
            <a:ext cx="54864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602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0016" y="3840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expose which features drive each individual prediction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Expected Credit Loss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141732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" y="1051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344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+ Bureau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64792" y="1348740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1096" y="1284732"/>
            <a:ext cx="82296" cy="1280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960120"/>
            <a:ext cx="1417320" cy="7772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1051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65960" y="1344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· Encode · Scale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37560" y="1348740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3864" y="1284732"/>
            <a:ext cx="82296" cy="1280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3008" y="960120"/>
            <a:ext cx="1417320" cy="7772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38728" y="1051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38728" y="1344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· Interactions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10328" y="1348740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56632" y="1284732"/>
            <a:ext cx="82296" cy="1280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65776" y="960120"/>
            <a:ext cx="14173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11496" y="1051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MODEL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11496" y="1344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83096" y="1348740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1284732"/>
            <a:ext cx="82296" cy="1280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960120"/>
            <a:ext cx="14173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84264" y="1051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MODEL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84264" y="1344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55864" y="1348740"/>
            <a:ext cx="18288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02168" y="1284732"/>
            <a:ext cx="82296" cy="12801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1312" y="960120"/>
            <a:ext cx="1417320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57032" y="1051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OUTPUT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57032" y="1344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× LGD × EAD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1993392"/>
            <a:ext cx="41605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1993392"/>
            <a:ext cx="41605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029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—  Probability of Default (PD)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23957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121408" y="23957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(binary:logistic)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2816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21408" y="28163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Default  |  0 = No Default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32369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21408" y="3236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· stratified split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3657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121408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F1-optimized via ROC curve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" y="40782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21408" y="4078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P(default) score  [0 → 1]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36008" y="1993392"/>
            <a:ext cx="41605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36008" y="1993392"/>
            <a:ext cx="416052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2029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—  Loss Given Default (LGD)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36592" y="23957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00800" y="23957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36592" y="2816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00800" y="28163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= 1 − Recovery Rate  [0→1]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36592" y="32369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00800" y="3236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defaulters from Stage 1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36592" y="3657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400800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reg:squarederror (MSE)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736592" y="40782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400800" y="4078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severity  [0 → 1]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Engineering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signals engineered from raw application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877824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877824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509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PROFILE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399032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362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employment tenure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9202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income stability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4780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dependents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358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30168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5935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per dependent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36392" y="877824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36392" y="877824"/>
            <a:ext cx="269748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9509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CHARACTERISTICS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1399032"/>
            <a:ext cx="109728" cy="1097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1362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&amp; tenure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1956816"/>
            <a:ext cx="109728" cy="1097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19202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(LTI) ratio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2514600"/>
            <a:ext cx="109728" cy="1097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24780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Loan-to-Value (LTV) ratio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072384"/>
            <a:ext cx="109728" cy="1097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0358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band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3630168"/>
            <a:ext cx="109728" cy="10972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5935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 category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25312" y="877824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5312" y="877824"/>
            <a:ext cx="269748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9509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BEHAVIOUR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1399032"/>
            <a:ext cx="109728" cy="109728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1362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 / CIBIL band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1956816"/>
            <a:ext cx="109728" cy="109728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19202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 ratio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514600"/>
            <a:ext cx="109728" cy="109728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4780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ratio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3072384"/>
            <a:ext cx="109728" cy="109728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0358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past defaults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3630168"/>
            <a:ext cx="109728" cy="109728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5935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count (6 months)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7472" y="4572000"/>
            <a:ext cx="8449056" cy="256032"/>
          </a:xfrm>
          <a:prstGeom prst="rect">
            <a:avLst/>
          </a:prstGeom>
          <a:solidFill>
            <a:srgbClr val="D6EAF8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6085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Class Imbalance:  ~5–15% default rate handled via XGBoost scale_pos_weight and stratified cross-validation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Python-first open-source stack for end-to-end ML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32688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32688"/>
            <a:ext cx="40690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784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Processing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1362456"/>
            <a:ext cx="45720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50592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" y="1755648"/>
            <a:ext cx="45720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728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50592" y="1728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2148840"/>
            <a:ext cx="45720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50592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2807208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807208"/>
            <a:ext cx="406908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" y="3236976"/>
            <a:ext cx="45720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50592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&amp; LGD models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" y="3630168"/>
            <a:ext cx="45720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50592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metrics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" y="4023360"/>
            <a:ext cx="45720" cy="2194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50592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36008" y="932688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36008" y="932688"/>
            <a:ext cx="4069080" cy="29260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9784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Viz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27448" y="1362456"/>
            <a:ext cx="45720" cy="21945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39128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27448" y="1755648"/>
            <a:ext cx="45720" cy="21945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1728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39128" y="1728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plots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27448" y="2148840"/>
            <a:ext cx="45720" cy="21945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39128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36008" y="2807208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36008" y="2807208"/>
            <a:ext cx="40690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27448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27448" y="3236976"/>
            <a:ext cx="45720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39128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27448" y="3630168"/>
            <a:ext cx="45720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7176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/ Joblib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39128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27448" y="4023360"/>
            <a:ext cx="45720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37176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739128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docs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across PD and LGD models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1965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54864" cy="10241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51560"/>
            <a:ext cx="17830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" y="1451701"/>
            <a:ext cx="1783080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707733"/>
            <a:ext cx="17830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Classifier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50592" y="960120"/>
            <a:ext cx="1965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960120"/>
            <a:ext cx="54864" cy="102412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051560"/>
            <a:ext cx="17830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78608" y="1451701"/>
            <a:ext cx="1783080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78608" y="1707733"/>
            <a:ext cx="17830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power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53712" y="960120"/>
            <a:ext cx="1965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53712" y="960120"/>
            <a:ext cx="54864" cy="10241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051560"/>
            <a:ext cx="17830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81728" y="1451701"/>
            <a:ext cx="1783080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1707733"/>
            <a:ext cx="17830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separation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56832" y="960120"/>
            <a:ext cx="2139696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56832" y="960120"/>
            <a:ext cx="54864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1051560"/>
            <a:ext cx="195681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84848" y="1451701"/>
            <a:ext cx="1956816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84848" y="1707733"/>
            <a:ext cx="1956816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216712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167128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2585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5488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834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Regressor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0592" y="216712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50592" y="2167128"/>
            <a:ext cx="54864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8608" y="22585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0.68+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578608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78608" y="2834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53712" y="216712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53712" y="2167128"/>
            <a:ext cx="54864" cy="9144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22585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681728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Trials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1728" y="2834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search budget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56832" y="2167128"/>
            <a:ext cx="213969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56832" y="2167128"/>
            <a:ext cx="54864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25856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784848" y="260604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84848" y="283464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importance</a:t>
            </a:r>
            <a:endParaRPr lang="en-US" sz="8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347472" y="3273552"/>
          <a:ext cx="8449056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Calculation &amp; Business Impact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scores to real-world loan decisions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14400"/>
            <a:ext cx="8449056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9875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 =  PD  ×  LGD  ×  EAD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Credit Loss  =  Probability of Default  ×  Loss Given Default  ×  Exposure at Default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188366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883664"/>
            <a:ext cx="2011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47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PD score at application; approve, reject, or route to manual review based on ECL threshold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50592" y="188366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1883664"/>
            <a:ext cx="2011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947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Provisioning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ECL computation across loan book for regulatory Stage 1/2/3 classification and provisioning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53712" y="188366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1883664"/>
            <a:ext cx="20116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947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Pricing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5152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interest rates proportional to risk score — reward low-risk borrowers with better rates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56832" y="188366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56832" y="1883664"/>
            <a:ext cx="2011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1947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Triage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48272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high-LGD accounts for early collection outreach before delinquency escalates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675888"/>
            <a:ext cx="8449056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30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2920" y="3977640"/>
            <a:ext cx="19202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&lt; 2%  →  Auto Approve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606040" y="3977640"/>
            <a:ext cx="192024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– 5%  →  Approve w/ Conditions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977640"/>
            <a:ext cx="19202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– 10%  →  Manual Review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3977640"/>
            <a:ext cx="19202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  →  Auto Decline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— Streamlit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" y="493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loan risk scoring interface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8449056" cy="0"/>
          </a:xfrm>
          <a:prstGeom prst="line">
            <a:avLst/>
          </a:prstGeom>
          <a:noFill/>
          <a:ln w="9525">
            <a:solidFill>
              <a:srgbClr val="A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91440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6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14400"/>
            <a:ext cx="5029200" cy="329184"/>
          </a:xfrm>
          <a:prstGeom prst="rect">
            <a:avLst/>
          </a:prstGeom>
          <a:solidFill>
            <a:srgbClr val="E8EAED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92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Credit Risk Scorer — Streamlit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1243584"/>
            <a:ext cx="1188720" cy="34198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2336" y="1627632"/>
            <a:ext cx="10515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664208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02336" y="2066544"/>
            <a:ext cx="10515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0312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02336" y="2505456"/>
            <a:ext cx="10515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542032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02336" y="2944368"/>
            <a:ext cx="10515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8094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02336" y="3383280"/>
            <a:ext cx="10515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419856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Ratio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02336" y="3822192"/>
            <a:ext cx="10515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Util. Rate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64208" y="1316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Risk Assessment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37360" y="1664208"/>
            <a:ext cx="1280160" cy="1280160"/>
          </a:xfrm>
          <a:prstGeom prst="ellipse">
            <a:avLst/>
          </a:prstGeom>
          <a:solidFill>
            <a:srgbClr val="D6EAF8"/>
          </a:solidFill>
          <a:ln w="38100">
            <a:solidFill>
              <a:srgbClr val="2471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0391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1664208"/>
            <a:ext cx="1280160" cy="1280160"/>
          </a:xfrm>
          <a:prstGeom prst="ellipse">
            <a:avLst/>
          </a:prstGeom>
          <a:solidFill>
            <a:srgbClr val="FEF9E7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0391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64208" y="3127248"/>
            <a:ext cx="3520440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19072" y="32186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= 3.4%  →  MANUAL REVIEW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64208" y="3657600"/>
            <a:ext cx="3520440" cy="329184"/>
          </a:xfrm>
          <a:prstGeom prst="rect">
            <a:avLst/>
          </a:prstGeom>
          <a:solidFill>
            <a:srgbClr val="D6EAF8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19072" y="372160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 ↓  Top risk drivers for this applicant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69280" y="9601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STACK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1261872"/>
            <a:ext cx="3127248" cy="53035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760720" y="1298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15179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input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32904" y="1883664"/>
            <a:ext cx="0" cy="36576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1920240"/>
            <a:ext cx="3127248" cy="5303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760720" y="19568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60720" y="21762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&amp; routing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32904" y="2542032"/>
            <a:ext cx="0" cy="36576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2578608"/>
            <a:ext cx="31272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760720" y="2615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Logic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0720" y="2834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Score → ECL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32904" y="3200400"/>
            <a:ext cx="0" cy="36576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3236976"/>
            <a:ext cx="31272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760720" y="3273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60720" y="34930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PD + LGD models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232904" y="3858768"/>
            <a:ext cx="0" cy="36576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3895344"/>
            <a:ext cx="3127248" cy="5303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760720" y="3931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60720" y="41513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Decision + SHAP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66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Model | Small Finance Company  | 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48966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production-grade credit decisioning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2011680" cy="3383280"/>
          </a:xfrm>
          <a:prstGeom prst="rect">
            <a:avLst/>
          </a:prstGeom>
          <a:solidFill>
            <a:srgbClr val="142232"/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51560"/>
            <a:ext cx="201168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06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1664208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27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PD + LGD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276856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402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HPO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" y="2889504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529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MVP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" y="3502152"/>
            <a:ext cx="91440" cy="914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465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87168" y="1051560"/>
            <a:ext cx="2011680" cy="3383280"/>
          </a:xfrm>
          <a:prstGeom prst="rect">
            <a:avLst/>
          </a:prstGeom>
          <a:solidFill>
            <a:srgbClr val="142232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7168" y="1051560"/>
            <a:ext cx="2011680" cy="4572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1106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15184" y="1664208"/>
            <a:ext cx="91440" cy="914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1627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15184" y="2276856"/>
            <a:ext cx="91440" cy="914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2402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15184" y="2889504"/>
            <a:ext cx="91440" cy="914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28529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15184" y="3502152"/>
            <a:ext cx="91440" cy="914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3465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(Evidently)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78608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26864" y="1051560"/>
            <a:ext cx="2011680" cy="3383280"/>
          </a:xfrm>
          <a:prstGeom prst="rect">
            <a:avLst/>
          </a:prstGeom>
          <a:solidFill>
            <a:srgbClr val="142232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1106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66420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1627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analysis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27685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2402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288950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28529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bureau integration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50215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3465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model framework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18304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766560" y="1051560"/>
            <a:ext cx="2011680" cy="3383280"/>
          </a:xfrm>
          <a:prstGeom prst="rect">
            <a:avLst/>
          </a:prstGeom>
          <a:solidFill>
            <a:srgbClr val="142232"/>
          </a:solidFill>
          <a:ln w="19050">
            <a:solidFill>
              <a:srgbClr val="5665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1051560"/>
            <a:ext cx="2011680" cy="45720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1106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94576" y="1664208"/>
            <a:ext cx="91440" cy="91440"/>
          </a:xfrm>
          <a:prstGeom prst="ellipse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1627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94576" y="2276856"/>
            <a:ext cx="91440" cy="91440"/>
          </a:xfrm>
          <a:prstGeom prst="ellipse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2402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data signals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94576" y="2889504"/>
            <a:ext cx="91440" cy="91440"/>
          </a:xfrm>
          <a:prstGeom prst="ellipse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28529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pipeline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94576" y="3502152"/>
            <a:ext cx="91440" cy="91440"/>
          </a:xfrm>
          <a:prstGeom prst="ellipse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465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58000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github.com/Sajalagarwal-ca/credit_risk_modeling  |  Sajal Agarwal  |  Toronto, Canada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Model — Small Finance Company</dc:title>
  <dc:subject>PptxGenJS Presentation</dc:subject>
  <dc:creator>Sajal Agarwal</dc:creator>
  <cp:lastModifiedBy>Sajal Agarwal</cp:lastModifiedBy>
  <cp:revision>1</cp:revision>
  <dcterms:created xsi:type="dcterms:W3CDTF">2026-05-18T18:31:37Z</dcterms:created>
  <dcterms:modified xsi:type="dcterms:W3CDTF">2026-05-18T18:31:37Z</dcterms:modified>
</cp:coreProperties>
</file>